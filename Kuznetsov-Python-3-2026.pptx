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24384000" cy="13716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1206360" y="4248360"/>
            <a:ext cx="21970440" cy="8255160"/>
          </a:xfrm>
          <a:prstGeom prst="rect">
            <a:avLst/>
          </a:prstGeom>
          <a:noFill/>
          <a:ln w="12600">
            <a:noFill/>
          </a:ln>
        </p:spPr>
        <p:txBody>
          <a:bodyPr numCol="2" spcCol="1098720" lIns="50760" rIns="50760" tIns="50760" bIns="50760" anchor="t">
            <a:noAutofit/>
          </a:bodyPr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 charset="2"/>
              <a:buChar char="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Slide bullet text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12001320" y="1308096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6F1853F3-67F4-4347-B273-2CD37420ACE2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, Bullets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1206360" y="2247840"/>
            <a:ext cx="9778320" cy="9342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Slide Subtitle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06360" y="4248360"/>
            <a:ext cx="9778320" cy="8255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 charset="2"/>
              <a:buChar char="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Slide bullet text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8432640" y="1263960"/>
            <a:ext cx="16849440" cy="1118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1206360" y="952560"/>
            <a:ext cx="9778320" cy="1434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8500" b="1" u="none" spc="-170" strike="noStrike">
                <a:solidFill>
                  <a:schemeClr val="accent1">
                    <a:lumOff val="-24970"/>
                  </a:schemeClr>
                </a:solidFill>
                <a:effectLst/>
                <a:uFillTx/>
                <a:latin typeface="Helvetica Neue"/>
                <a:ea typeface="Helvetica Neue"/>
              </a:rPr>
              <a:t>Slide Title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2"/>
          </p:nvPr>
        </p:nvSpPr>
        <p:spPr>
          <a:xfrm>
            <a:off x="12001320" y="1308096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7D17494F-5AFE-4640-A105-345E6462FD49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06360" y="4533840"/>
            <a:ext cx="21970440" cy="46476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11600" b="0" u="none" spc="-232" strike="noStrike"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</a:rPr>
              <a:t>Section Title</a:t>
            </a:r>
            <a:endParaRPr lang="en-US" sz="116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3"/>
          </p:nvPr>
        </p:nvSpPr>
        <p:spPr>
          <a:xfrm>
            <a:off x="12001320" y="1308528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C7DD1F56-1780-42E2-8D14-8178CAA0F488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06360" y="952560"/>
            <a:ext cx="21970440" cy="1434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8500" b="1" u="none" spc="-170" strike="noStrike">
                <a:solidFill>
                  <a:schemeClr val="accent1">
                    <a:lumOff val="-24970"/>
                  </a:schemeClr>
                </a:solidFill>
                <a:effectLst/>
                <a:uFillTx/>
                <a:latin typeface="Helvetica Neue"/>
                <a:ea typeface="Helvetica Neue"/>
              </a:rPr>
              <a:t>Slide Title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06360" y="224784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Slide Subtitle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4"/>
          </p:nvPr>
        </p:nvSpPr>
        <p:spPr>
          <a:xfrm>
            <a:off x="12001320" y="1308096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BEB1AD29-1240-47CF-94C1-708EF2207D9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206360" y="952560"/>
            <a:ext cx="21970440" cy="1434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8500" b="1" u="none" spc="-170" strike="noStrike">
                <a:solidFill>
                  <a:schemeClr val="accent1">
                    <a:lumOff val="-24970"/>
                  </a:schemeClr>
                </a:solidFill>
                <a:effectLst/>
                <a:uFillTx/>
                <a:latin typeface="Helvetica Neue"/>
                <a:ea typeface="Helvetica Neue"/>
              </a:rPr>
              <a:t>Agenda Title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206360" y="224784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Agenda Subtitle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1206360" y="4248360"/>
            <a:ext cx="21970440" cy="8255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82548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lang="en-US" sz="5500" b="0" u="none" spc="-54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Agenda Topics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5"/>
          </p:nvPr>
        </p:nvSpPr>
        <p:spPr>
          <a:xfrm>
            <a:off x="12001320" y="1308096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094B52AB-B315-4C98-B2E1-7C2F7DC91332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1201320" y="11847240"/>
            <a:ext cx="21970440" cy="6361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Author and Date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11600" b="1" u="none" spc="-232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Presentation Title</a:t>
            </a:r>
            <a:endParaRPr lang="en-US" sz="116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1201320" y="7210440"/>
            <a:ext cx="21970440" cy="19044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500" b="1" u="none" strike="noStrike">
                <a:solidFill>
                  <a:schemeClr val="accent1"/>
                </a:solidFill>
                <a:effectLst/>
                <a:uFillTx/>
                <a:latin typeface="Helvetica Neue"/>
                <a:ea typeface="Helvetica Neue"/>
              </a:rPr>
              <a:t>Presentation Subtitle</a:t>
            </a:r>
            <a:endParaRPr lang="en-US" sz="55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6"/>
          </p:nvPr>
        </p:nvSpPr>
        <p:spPr>
          <a:xfrm>
            <a:off x="12001320" y="1308096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790D7850-E05C-4629-9612-E1704F937984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body"/>
          </p:nvPr>
        </p:nvSpPr>
        <p:spPr>
          <a:xfrm>
            <a:off x="1206360" y="4920840"/>
            <a:ext cx="21970440" cy="38736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11600" b="0" u="none" spc="-232" strike="noStrike">
                <a:solidFill>
                  <a:schemeClr val="accent1">
                    <a:lumOff val="-24970"/>
                  </a:schemeClr>
                </a:solidFill>
                <a:effectLst/>
                <a:uFillTx/>
                <a:latin typeface="Helvetica Neue Medium"/>
                <a:ea typeface="Helvetica Neue Medium"/>
              </a:rPr>
              <a:t>Statement</a:t>
            </a:r>
            <a:endParaRPr lang="en-US" sz="1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endParaRPr lang="en-US" sz="1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endParaRPr lang="en-US" sz="1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endParaRPr lang="en-US" sz="1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endParaRPr lang="en-US" sz="1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12001320" y="1308096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5E0AC9BE-5E7D-48B2-8DA6-6A6BF72C93BF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ig Fa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body"/>
          </p:nvPr>
        </p:nvSpPr>
        <p:spPr>
          <a:xfrm>
            <a:off x="1206360" y="1076040"/>
            <a:ext cx="21970440" cy="7241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25000" b="1" u="none" spc="-249" strike="noStrike">
                <a:solidFill>
                  <a:schemeClr val="accent1">
                    <a:lumOff val="-24970"/>
                  </a:schemeClr>
                </a:solidFill>
                <a:effectLst/>
                <a:uFillTx/>
                <a:latin typeface="Helvetica Neue"/>
                <a:ea typeface="Helvetica Neue"/>
              </a:rPr>
              <a:t>100%</a:t>
            </a:r>
            <a:endParaRPr lang="en-US" sz="25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endParaRPr lang="en-US" sz="25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endParaRPr lang="en-US" sz="25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endParaRPr lang="en-US" sz="25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endParaRPr lang="en-US" sz="25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1206360" y="826236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t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Fact information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8"/>
          </p:nvPr>
        </p:nvSpPr>
        <p:spPr>
          <a:xfrm>
            <a:off x="12001320" y="1308096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69CDED33-60A3-4A1E-99A8-A9A90215EEA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Quo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2480760" y="10675440"/>
            <a:ext cx="20148480" cy="6361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Attribution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753920" y="4939920"/>
            <a:ext cx="20875320" cy="3835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639000" indent="-469800" defTabSz="243828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8500" b="0" u="none" spc="-170" strike="noStrike">
                <a:solidFill>
                  <a:schemeClr val="accent1">
                    <a:lumOff val="-24970"/>
                  </a:schemeClr>
                </a:solidFill>
                <a:effectLst/>
                <a:uFillTx/>
                <a:latin typeface="Helvetica Neue Medium"/>
                <a:ea typeface="Helvetica Neue Medium"/>
              </a:rPr>
              <a:t>“Notable Quote”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639000" indent="-12600" defTabSz="2438280">
              <a:lnSpc>
                <a:spcPct val="90000"/>
              </a:lnSpc>
              <a:buNone/>
              <a:tabLst>
                <a:tab algn="l" pos="0"/>
              </a:tabLst>
            </a:pP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639000" indent="444600" defTabSz="2438280">
              <a:lnSpc>
                <a:spcPct val="90000"/>
              </a:lnSpc>
              <a:buNone/>
              <a:tabLst>
                <a:tab algn="l" pos="0"/>
              </a:tabLst>
            </a:pP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639000" indent="901800" defTabSz="2438280">
              <a:lnSpc>
                <a:spcPct val="90000"/>
              </a:lnSpc>
              <a:buNone/>
              <a:tabLst>
                <a:tab algn="l" pos="0"/>
              </a:tabLst>
            </a:pP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639000" indent="1359000" defTabSz="2438280">
              <a:lnSpc>
                <a:spcPct val="90000"/>
              </a:lnSpc>
              <a:buNone/>
              <a:tabLst>
                <a:tab algn="l" pos="0"/>
              </a:tabLst>
            </a:pP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9"/>
          </p:nvPr>
        </p:nvSpPr>
        <p:spPr>
          <a:xfrm>
            <a:off x="12001320" y="1308096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92190142-8694-45F0-9121-2FEE4D1F7EFA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0" y="-1270080"/>
            <a:ext cx="24383160" cy="1625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0"/>
          </p:nvPr>
        </p:nvSpPr>
        <p:spPr>
          <a:xfrm>
            <a:off x="12001320" y="1308096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DFC84EEB-C014-4E0A-8C3E-E09053FC953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body"/>
          </p:nvPr>
        </p:nvSpPr>
        <p:spPr>
          <a:xfrm>
            <a:off x="0" y="-1270080"/>
            <a:ext cx="24383160" cy="1625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1206360" y="7124760"/>
            <a:ext cx="21970440" cy="46476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11600" b="1" u="none" spc="-232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Presentation Title</a:t>
            </a:r>
            <a:endParaRPr lang="en-US" sz="1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1207800" y="1106280"/>
            <a:ext cx="21967920" cy="6361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Author and Date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1206360" y="11610000"/>
            <a:ext cx="21970440" cy="11163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5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Presentation Subtitle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1"/>
          </p:nvPr>
        </p:nvSpPr>
        <p:spPr>
          <a:xfrm>
            <a:off x="12001320" y="1308096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12F1963A-B669-4814-BD14-14EF9BB4280B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&amp; Photo 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9226440" y="1270080"/>
            <a:ext cx="16839360" cy="111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Helvetica Neue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1206360" y="1270080"/>
            <a:ext cx="9778320" cy="58816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8500" b="1" u="none" spc="-170" strike="noStrike">
                <a:solidFill>
                  <a:schemeClr val="accent1">
                    <a:lumOff val="-24970"/>
                  </a:schemeClr>
                </a:solidFill>
                <a:effectLst/>
                <a:uFillTx/>
                <a:latin typeface="Helvetica Neue"/>
                <a:ea typeface="Helvetica Neue"/>
              </a:rPr>
              <a:t>Slide Title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1206360" y="7060680"/>
            <a:ext cx="9778320" cy="53848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Slide Subtitle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2"/>
          </p:nvPr>
        </p:nvSpPr>
        <p:spPr>
          <a:xfrm>
            <a:off x="12001320" y="1308528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C438329B-02CE-42D5-A946-6E652F3FABD1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&amp; Bulle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206360" y="95256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8500" b="1" u="none" spc="-170" strike="noStrike">
                <a:solidFill>
                  <a:schemeClr val="accent1">
                    <a:lumOff val="-24970"/>
                  </a:schemeClr>
                </a:solidFill>
                <a:effectLst/>
                <a:uFillTx/>
                <a:latin typeface="Helvetica Neue"/>
                <a:ea typeface="Helvetica Neue"/>
              </a:rPr>
              <a:t>Slide Title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206360" y="224604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500" b="1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Slide Subtitle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1206360" y="4248360"/>
            <a:ext cx="21970440" cy="82551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 charset="2"/>
              <a:buChar char=""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Slide bullet text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2438280">
              <a:lnSpc>
                <a:spcPct val="90000"/>
              </a:lnSpc>
              <a:spcBef>
                <a:spcPts val="4501"/>
              </a:spcBef>
              <a:buNone/>
              <a:tabLst>
                <a:tab algn="l" pos="0"/>
              </a:tabLst>
            </a:pPr>
            <a:endParaRPr lang="en-US" sz="4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13"/>
          </p:nvPr>
        </p:nvSpPr>
        <p:spPr>
          <a:xfrm>
            <a:off x="12001320" y="13080960"/>
            <a:ext cx="367920" cy="3740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084C1CAD-F061-4DAB-AB54-B0E11EB187F9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hyperlink" Target="mailto:info@it-cube39.ru" TargetMode="External"/><Relationship Id="rId3" Type="http://schemas.openxmlformats.org/officeDocument/2006/relationships/hyperlink" Target="http://it-cube39.ru" TargetMode="External"/><Relationship Id="rId4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/>
          </p:nvPr>
        </p:nvSpPr>
        <p:spPr>
          <a:xfrm>
            <a:off x="16098480" y="10932840"/>
            <a:ext cx="8279640" cy="15505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</a:rPr>
              <a:t>«IT-куб» Калининград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11201400" y="1231920"/>
            <a:ext cx="11737440" cy="2550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180432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6290" b="1" u="none" spc="-125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Игра</a:t>
            </a:r>
            <a:br>
              <a:rPr sz="6290"/>
            </a:br>
            <a:r>
              <a:rPr lang="ru-RU" sz="6290" b="1" u="none" spc="-125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“МужикВзыскуетИстину”</a:t>
            </a:r>
            <a:endParaRPr lang="en-US" sz="629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Прямоугольник 4"/>
          <p:cNvSpPr/>
          <p:nvPr/>
        </p:nvSpPr>
        <p:spPr>
          <a:xfrm>
            <a:off x="14140080" y="4608720"/>
            <a:ext cx="10918080" cy="39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2438280">
              <a:lnSpc>
                <a:spcPct val="107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ru-RU" sz="4200" b="1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Проект выполнил(-и):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7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Кузнецов Владислав Михайлович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7000"/>
              </a:lnSpc>
              <a:spcAft>
                <a:spcPts val="799"/>
              </a:spcAft>
              <a:tabLst>
                <a:tab algn="l" pos="0"/>
              </a:tabLst>
            </a:pP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7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ru-RU" sz="4200" b="1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Наставник проекта: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7000"/>
              </a:lnSpc>
              <a:spcAft>
                <a:spcPts val="799"/>
              </a:spcAft>
              <a:tabLst>
                <a:tab algn="l" pos="0"/>
              </a:tabLst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Буистов Владислав Валерьевич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206360" y="952560"/>
            <a:ext cx="21970440" cy="13503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Что такое проект?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49" name="Picture 10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47160" y="291204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Прямоугольник 1"/>
          <p:cNvSpPr/>
          <p:nvPr/>
        </p:nvSpPr>
        <p:spPr>
          <a:xfrm>
            <a:off x="1206360" y="2912040"/>
            <a:ext cx="17584560" cy="694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1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Проект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 — это временное предприятие, направленное на создание уникального продукта, услуги или результата. В отличие от операционной деятельности, проект всегда имеет конкретное начало и конец, чётко определённую цель и уникальный набор работ. 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0000"/>
              </a:lnSpc>
              <a:spcAft>
                <a:spcPts val="1199"/>
              </a:spcAft>
            </a:pP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1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Примеры проектов: 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разработка нового транспортного средства, строительство здания или сооружения, проведение избирательной кампании. 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0000"/>
              </a:lnSpc>
              <a:spcAft>
                <a:spcPts val="1199"/>
              </a:spcAft>
            </a:pP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206360" y="952560"/>
            <a:ext cx="21970440" cy="13503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Ключевые признаки проекта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52" name="Picture 10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47160" y="291204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Прямоугольник 1"/>
          <p:cNvSpPr/>
          <p:nvPr/>
        </p:nvSpPr>
        <p:spPr>
          <a:xfrm>
            <a:off x="1206360" y="2912040"/>
            <a:ext cx="17584560" cy="70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Временность — чёткие временные рамки (начало и завершение).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Уникальность — каждый проект производит неповторимый результат.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Последовательная разработка — проект развивается поэтапно, от концепции к реализации.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Ограниченность ресурсов — бюджет, люди, материалы и время строго лимитированы.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Целенаправленность — проект всегда решает конкретную задачу или проблему.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206360" y="952560"/>
            <a:ext cx="21970440" cy="13503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Примеры ИТ-проектов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55" name="Picture 10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47160" y="291204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Прямоугольник 1"/>
          <p:cNvSpPr/>
          <p:nvPr/>
        </p:nvSpPr>
        <p:spPr>
          <a:xfrm>
            <a:off x="1206360" y="2360520"/>
            <a:ext cx="17584560" cy="103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1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Сервисы на базе ИИ для диагностики заболеваний 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— например, российский сервис диагностики MDDC выявляет новообразования в лёгких размером менее 4 мм, что позволяет обнаружить рак на ранних стадиях. 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0000"/>
              </a:lnSpc>
              <a:spcAft>
                <a:spcPts val="1199"/>
              </a:spcAft>
            </a:pP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1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Предиктивные модели ИИ для отслеживания и прогнозирования уровня выбросов 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— позволяют не только мониторить текущий уровень выбросов, но и выбирать для них оптимальное время в соответствии с погодными условиями и розой ветров, чтобы минимизировать воздействие на окружающую среду.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0000"/>
              </a:lnSpc>
              <a:spcAft>
                <a:spcPts val="1199"/>
              </a:spcAft>
            </a:pP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1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Нейросети для выявления подозрительных моделей поведения и транзакций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 — помогают бороться с мошенничеством в страховании.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06360" y="952560"/>
            <a:ext cx="21970440" cy="13503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Актуальность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58" name="Picture 10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47160" y="291204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Прямоугольник 1"/>
          <p:cNvSpPr/>
          <p:nvPr/>
        </p:nvSpPr>
        <p:spPr>
          <a:xfrm>
            <a:off x="1206360" y="2912040"/>
            <a:ext cx="17584560" cy="53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Проект нужен для того, чтобы закрепить навыки программирования на Python, освоить библиотеку Pygame для работы с игровой графикой, звуком, текстом и логикой. Также он позволил мне поэкспериментировать с игровой идеей «слепого поиска» и двухэтапным игровым процессом.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Проект решает проблему отсутствия опыта в создании игр на Python и Pygame.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68560" y="95256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Целевая аудитория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61" name="Picture 10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28440" y="265068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Прямоугольник 5"/>
          <p:cNvSpPr/>
          <p:nvPr/>
        </p:nvSpPr>
        <p:spPr>
          <a:xfrm>
            <a:off x="1206360" y="2912040"/>
            <a:ext cx="16342200" cy="23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Друзья, приятели, одноклассники.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0000"/>
              </a:lnSpc>
              <a:spcAft>
                <a:spcPts val="1199"/>
              </a:spcAft>
            </a:pP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0000"/>
              </a:lnSpc>
              <a:spcAft>
                <a:spcPts val="1199"/>
              </a:spcAft>
            </a:pP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06360" y="952560"/>
            <a:ext cx="21970440" cy="13503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Цель и задачи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64" name="Picture 10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47160" y="291204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Прямоугольник 1"/>
          <p:cNvSpPr/>
          <p:nvPr/>
        </p:nvSpPr>
        <p:spPr>
          <a:xfrm>
            <a:off x="1206360" y="2912040"/>
            <a:ext cx="16764120" cy="67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Цель: написать игру на Pygame, в основе которой лежит идея слепого поиска.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  <a:tabLst>
                <a:tab algn="l" pos="0"/>
              </a:tabLst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Задачи: нарисовать биомы, выбрать музыку, процедурно сгенерировать карту, сделать режим отладки, рандомно сгенерировать позицию игрока и истины, отрисовать мини-карту, реализовать экран конца игры, добавить ограничение на шаги, сделать анимацию биомов, добавить преграду гор и телепорт океанов, сделать эффект грибного биома.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168560" y="95256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Описание проекта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67" name="Picture 10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28440" y="265068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Прямоугольник 5"/>
          <p:cNvSpPr/>
          <p:nvPr/>
        </p:nvSpPr>
        <p:spPr>
          <a:xfrm>
            <a:off x="1206360" y="2912040"/>
            <a:ext cx="16342200" cy="48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69" name=""/>
          <p:cNvPicPr/>
          <p:nvPr/>
        </p:nvPicPr>
        <p:blipFill>
          <a:blip r:embed="rId3"/>
          <a:stretch/>
        </p:blipFill>
        <p:spPr>
          <a:xfrm>
            <a:off x="1260000" y="2160000"/>
            <a:ext cx="14400000" cy="108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168560" y="95256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Описание проекта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71" name="Picture 10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28440" y="265068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Прямоугольник 5"/>
          <p:cNvSpPr/>
          <p:nvPr/>
        </p:nvSpPr>
        <p:spPr>
          <a:xfrm>
            <a:off x="1206360" y="2912040"/>
            <a:ext cx="16342200" cy="76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Цель игры - найти Истину за ограниченное число шагов.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Игровой процесс состоит из двух этапов.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На первом этапе игрок получает случайную позицию на карте, но эта позиция ему неизвестна.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Карта имеет размер 17x17 клеток и состоит из биомов с разными свойствами.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В центре карты находится Морфеус - тот, кто укажет путь к Истине.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Задача первого этапа - добраться до Морфеуса.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just" defTabSz="2438280">
              <a:lnSpc>
                <a:spcPct val="100000"/>
              </a:lnSpc>
              <a:spcAft>
                <a:spcPts val="11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168560" y="95256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Описание проекта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74" name="Picture 1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28440" y="265068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Прямоугольник 2"/>
          <p:cNvSpPr/>
          <p:nvPr/>
        </p:nvSpPr>
        <p:spPr>
          <a:xfrm>
            <a:off x="1206360" y="2912040"/>
            <a:ext cx="16342200" cy="981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Чтобы узнать свое место на карте, игроку приходится делать первые шаги вслепую.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Усложняют этот процесс свойства отдельных биомов.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Горы блокируют движение, как и края карты. Но по сообщению на экране нельзя понять, во что конкретно мы уперлись.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Шаг в океан уносит игрока течением в другой случайный океан на карте.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После телепорта океаном поможет сориентироваться анимация сердечного ритма биомом: чем ближе к цели, тем выше ритм.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Споры грибного биома временно дезориентируют, но дают сверхсилы: управление инвертируется, зато горы и океаны теряют свой эффект.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168560" y="95256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Описание проекта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77" name="Picture 10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28440" y="265068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"/>
          <p:cNvPicPr/>
          <p:nvPr/>
        </p:nvPicPr>
        <p:blipFill>
          <a:blip r:embed="rId3"/>
          <a:stretch/>
        </p:blipFill>
        <p:spPr>
          <a:xfrm>
            <a:off x="1260000" y="2160000"/>
            <a:ext cx="14400000" cy="108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168560" y="95256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Описание проекта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80" name="Picture 2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28440" y="265068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Прямоугольник 3"/>
          <p:cNvSpPr/>
          <p:nvPr/>
        </p:nvSpPr>
        <p:spPr>
          <a:xfrm>
            <a:off x="1206360" y="2912040"/>
            <a:ext cx="16342200" cy="75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Как только игрок добрался до Морфеуса, начинается 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второй этап и на экране отображается мини-карта, 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где обозначена Истина.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Задача второго этапа — спланировать кратчайший 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путь к Истине.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Задача усложняется тем, что дорогу могут 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преграждать горы и океаны, а немалое количество 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шагов было потрачено на обнаружение позиции 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игрока на первом этапе.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Здесь хорошо помогают суперсилы, которые дают </a:t>
            </a: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грибные биомы.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168560" y="95256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Описание проекта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83" name="Picture 3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28440" y="265068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"/>
          <p:cNvPicPr/>
          <p:nvPr/>
        </p:nvPicPr>
        <p:blipFill>
          <a:blip r:embed="rId3"/>
          <a:stretch/>
        </p:blipFill>
        <p:spPr>
          <a:xfrm>
            <a:off x="1260000" y="2160000"/>
            <a:ext cx="14400000" cy="108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206360" y="952560"/>
            <a:ext cx="21970440" cy="13503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ru-RU" sz="8500" b="1" u="none" spc="-170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Перспективы развития</a:t>
            </a:r>
            <a:endParaRPr lang="en-US" sz="8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86" name="Picture 10"/>
          <p:cNvPicPr/>
          <p:nvPr/>
        </p:nvPicPr>
        <p:blipFill>
          <a:blip r:embed="rId2"/>
          <a:srcRect l="15078" t="3470" r="16255" b="24926"/>
          <a:stretch/>
        </p:blipFill>
        <p:spPr>
          <a:xfrm>
            <a:off x="21647160" y="2912040"/>
            <a:ext cx="2499840" cy="26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Прямоугольник 1"/>
          <p:cNvSpPr/>
          <p:nvPr/>
        </p:nvSpPr>
        <p:spPr>
          <a:xfrm>
            <a:off x="1206360" y="2912040"/>
            <a:ext cx="16764120" cy="630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Разные биомы должны отнимать разное количество шагов.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Добавить эффекты для биомов, у которых их нет.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Переход на второй этап включает таймер обратного отсчета и активную музыку. В данный момент на обоих этапах играет спокойная музыка.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571680" indent="-571680" algn="just" defTabSz="2438280">
              <a:lnSpc>
                <a:spcPct val="100000"/>
              </a:lnSpc>
              <a:spcAft>
                <a:spcPts val="1199"/>
              </a:spcAft>
              <a:buClr>
                <a:srgbClr val="5e5e5e"/>
              </a:buClr>
              <a:buFont typeface="Arial"/>
              <a:buChar char="•"/>
            </a:pPr>
            <a:r>
              <a:rPr lang="ru-RU" sz="4200" b="0" u="none" strike="noStrike">
                <a:solidFill>
                  <a:srgbClr val="5e5e5e"/>
                </a:solidFill>
                <a:effectLst/>
                <a:uFillTx/>
                <a:latin typeface="Helvetica Neue Medium"/>
                <a:ea typeface="Helvetica Neue"/>
              </a:rPr>
              <a:t>Изменение карты во время игры, которое отражает естественные изменения ландшафтов: разрушение гор, опустынивание, наводнения и т.д.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1266840"/>
            <a:ext cx="11238840" cy="48124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7600" b="1" u="none" spc="-153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Центр цифрового образования детей</a:t>
            </a:r>
            <a:endParaRPr lang="en-US" sz="7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ctr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lang="en-US" sz="7600" b="1" u="none" spc="-153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«IT-куб» Калининград</a:t>
            </a:r>
            <a:endParaRPr lang="en-US" sz="7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9" name="Circle"/>
          <p:cNvSpPr/>
          <p:nvPr/>
        </p:nvSpPr>
        <p:spPr>
          <a:xfrm>
            <a:off x="673200" y="5816520"/>
            <a:ext cx="1586880" cy="1586880"/>
          </a:xfrm>
          <a:prstGeom prst="ellipse">
            <a:avLst/>
          </a:prstGeom>
          <a:gradFill rotWithShape="0"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</a:endParaRPr>
          </a:p>
        </p:txBody>
      </p:sp>
      <p:sp>
        <p:nvSpPr>
          <p:cNvPr id="90" name="Circle"/>
          <p:cNvSpPr/>
          <p:nvPr/>
        </p:nvSpPr>
        <p:spPr>
          <a:xfrm>
            <a:off x="673200" y="7734240"/>
            <a:ext cx="1586880" cy="1586880"/>
          </a:xfrm>
          <a:prstGeom prst="ellipse">
            <a:avLst/>
          </a:prstGeom>
          <a:gradFill rotWithShape="0"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</a:endParaRPr>
          </a:p>
        </p:txBody>
      </p:sp>
      <p:sp>
        <p:nvSpPr>
          <p:cNvPr id="91" name="Circle"/>
          <p:cNvSpPr/>
          <p:nvPr/>
        </p:nvSpPr>
        <p:spPr>
          <a:xfrm>
            <a:off x="673200" y="9651960"/>
            <a:ext cx="1586880" cy="1586880"/>
          </a:xfrm>
          <a:prstGeom prst="ellipse">
            <a:avLst/>
          </a:prstGeom>
          <a:gradFill rotWithShape="0"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</a:endParaRPr>
          </a:p>
        </p:txBody>
      </p:sp>
      <p:sp>
        <p:nvSpPr>
          <p:cNvPr id="92" name="Circle"/>
          <p:cNvSpPr/>
          <p:nvPr/>
        </p:nvSpPr>
        <p:spPr>
          <a:xfrm>
            <a:off x="673200" y="11582280"/>
            <a:ext cx="1586880" cy="1586880"/>
          </a:xfrm>
          <a:prstGeom prst="ellipse">
            <a:avLst/>
          </a:prstGeom>
          <a:gradFill rotWithShape="0">
            <a:gsLst>
              <a:gs pos="0">
                <a:srgbClr val="56c1ff"/>
              </a:gs>
              <a:gs pos="100000">
                <a:srgbClr val="0076ba"/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</a:endParaRPr>
          </a:p>
        </p:txBody>
      </p:sp>
      <p:sp>
        <p:nvSpPr>
          <p:cNvPr id="93" name="Paper airplane"/>
          <p:cNvSpPr/>
          <p:nvPr/>
        </p:nvSpPr>
        <p:spPr>
          <a:xfrm>
            <a:off x="901800" y="8032680"/>
            <a:ext cx="888120" cy="982080"/>
          </a:xfrm>
          <a:custGeom>
            <a:avLst/>
            <a:gdLst>
              <a:gd name="textAreaLeft" fmla="*/ 0 w 888120"/>
              <a:gd name="textAreaRight" fmla="*/ 888840 w 888120"/>
              <a:gd name="textAreaTop" fmla="*/ 0 h 982080"/>
              <a:gd name="textAreaBottom" fmla="*/ 982800 h 9820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588" h="21600">
                <a:moveTo>
                  <a:pt x="21281" y="0"/>
                </a:moveTo>
                <a:cubicBezTo>
                  <a:pt x="21271" y="4"/>
                  <a:pt x="21262" y="10"/>
                  <a:pt x="21253" y="16"/>
                </a:cubicBezTo>
                <a:lnTo>
                  <a:pt x="92" y="13287"/>
                </a:lnTo>
                <a:cubicBezTo>
                  <a:pt x="21" y="13332"/>
                  <a:pt x="-12" y="13405"/>
                  <a:pt x="4" y="13482"/>
                </a:cubicBezTo>
                <a:cubicBezTo>
                  <a:pt x="19" y="13559"/>
                  <a:pt x="78" y="13616"/>
                  <a:pt x="162" y="13635"/>
                </a:cubicBezTo>
                <a:lnTo>
                  <a:pt x="8035" y="15408"/>
                </a:lnTo>
                <a:lnTo>
                  <a:pt x="21281" y="0"/>
                </a:lnTo>
                <a:close/>
                <a:moveTo>
                  <a:pt x="21588" y="236"/>
                </a:moveTo>
                <a:lnTo>
                  <a:pt x="11685" y="16220"/>
                </a:lnTo>
                <a:lnTo>
                  <a:pt x="15265" y="17261"/>
                </a:lnTo>
                <a:lnTo>
                  <a:pt x="15343" y="17277"/>
                </a:lnTo>
                <a:lnTo>
                  <a:pt x="20737" y="18840"/>
                </a:lnTo>
                <a:cubicBezTo>
                  <a:pt x="20802" y="18859"/>
                  <a:pt x="20872" y="18847"/>
                  <a:pt x="20928" y="18811"/>
                </a:cubicBezTo>
                <a:cubicBezTo>
                  <a:pt x="20983" y="18775"/>
                  <a:pt x="21014" y="18719"/>
                  <a:pt x="21016" y="18658"/>
                </a:cubicBezTo>
                <a:lnTo>
                  <a:pt x="21588" y="236"/>
                </a:lnTo>
                <a:close/>
                <a:moveTo>
                  <a:pt x="20412" y="1518"/>
                </a:moveTo>
                <a:lnTo>
                  <a:pt x="8296" y="15603"/>
                </a:lnTo>
                <a:lnTo>
                  <a:pt x="11209" y="21558"/>
                </a:lnTo>
                <a:cubicBezTo>
                  <a:pt x="11216" y="21574"/>
                  <a:pt x="11226" y="21587"/>
                  <a:pt x="11237" y="21600"/>
                </a:cubicBezTo>
                <a:lnTo>
                  <a:pt x="11269" y="16268"/>
                </a:lnTo>
                <a:lnTo>
                  <a:pt x="11290" y="16233"/>
                </a:lnTo>
                <a:lnTo>
                  <a:pt x="20412" y="1518"/>
                </a:lnTo>
                <a:close/>
                <a:moveTo>
                  <a:pt x="11608" y="16517"/>
                </a:moveTo>
                <a:lnTo>
                  <a:pt x="11576" y="21597"/>
                </a:lnTo>
                <a:lnTo>
                  <a:pt x="15046" y="17520"/>
                </a:lnTo>
                <a:lnTo>
                  <a:pt x="11608" y="16517"/>
                </a:ln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</a:endParaRPr>
          </a:p>
        </p:txBody>
      </p:sp>
      <p:sp>
        <p:nvSpPr>
          <p:cNvPr id="94" name="Phone"/>
          <p:cNvSpPr/>
          <p:nvPr/>
        </p:nvSpPr>
        <p:spPr>
          <a:xfrm>
            <a:off x="1028520" y="10007640"/>
            <a:ext cx="888120" cy="888480"/>
          </a:xfrm>
          <a:custGeom>
            <a:avLst/>
            <a:gdLst>
              <a:gd name="textAreaLeft" fmla="*/ 0 w 888120"/>
              <a:gd name="textAreaRight" fmla="*/ 888840 w 888120"/>
              <a:gd name="textAreaTop" fmla="*/ 0 h 888480"/>
              <a:gd name="textAreaBottom" fmla="*/ 889200 h 8884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279" h="21372">
                <a:moveTo>
                  <a:pt x="4456" y="0"/>
                </a:moveTo>
                <a:cubicBezTo>
                  <a:pt x="4319" y="3"/>
                  <a:pt x="4182" y="47"/>
                  <a:pt x="4065" y="134"/>
                </a:cubicBezTo>
                <a:lnTo>
                  <a:pt x="2615" y="1212"/>
                </a:lnTo>
                <a:lnTo>
                  <a:pt x="6378" y="6378"/>
                </a:lnTo>
                <a:lnTo>
                  <a:pt x="7829" y="5299"/>
                </a:lnTo>
                <a:cubicBezTo>
                  <a:pt x="8140" y="5067"/>
                  <a:pt x="8206" y="4624"/>
                  <a:pt x="7975" y="4311"/>
                </a:cubicBezTo>
                <a:lnTo>
                  <a:pt x="5072" y="311"/>
                </a:lnTo>
                <a:cubicBezTo>
                  <a:pt x="4920" y="104"/>
                  <a:pt x="4686" y="-4"/>
                  <a:pt x="4456" y="0"/>
                </a:cubicBezTo>
                <a:close/>
                <a:moveTo>
                  <a:pt x="2209" y="1514"/>
                </a:moveTo>
                <a:cubicBezTo>
                  <a:pt x="2209" y="1514"/>
                  <a:pt x="-223" y="3454"/>
                  <a:pt x="16" y="7120"/>
                </a:cubicBezTo>
                <a:cubicBezTo>
                  <a:pt x="16" y="7120"/>
                  <a:pt x="1473" y="11065"/>
                  <a:pt x="5867" y="15478"/>
                </a:cubicBezTo>
                <a:cubicBezTo>
                  <a:pt x="10261" y="19891"/>
                  <a:pt x="14189" y="21356"/>
                  <a:pt x="14189" y="21356"/>
                </a:cubicBezTo>
                <a:cubicBezTo>
                  <a:pt x="17838" y="21596"/>
                  <a:pt x="19772" y="19154"/>
                  <a:pt x="19772" y="19154"/>
                </a:cubicBezTo>
                <a:lnTo>
                  <a:pt x="14628" y="15374"/>
                </a:lnTo>
                <a:cubicBezTo>
                  <a:pt x="13735" y="16397"/>
                  <a:pt x="12393" y="16575"/>
                  <a:pt x="11402" y="15580"/>
                </a:cubicBezTo>
                <a:lnTo>
                  <a:pt x="5767" y="9920"/>
                </a:lnTo>
                <a:cubicBezTo>
                  <a:pt x="4776" y="8925"/>
                  <a:pt x="4954" y="7577"/>
                  <a:pt x="5972" y="6680"/>
                </a:cubicBezTo>
                <a:lnTo>
                  <a:pt x="2209" y="1514"/>
                </a:lnTo>
                <a:close/>
                <a:moveTo>
                  <a:pt x="16463" y="13230"/>
                </a:moveTo>
                <a:cubicBezTo>
                  <a:pt x="16285" y="13257"/>
                  <a:pt x="16117" y="13351"/>
                  <a:pt x="16002" y="13508"/>
                </a:cubicBezTo>
                <a:lnTo>
                  <a:pt x="14929" y="14965"/>
                </a:lnTo>
                <a:lnTo>
                  <a:pt x="20071" y="18746"/>
                </a:lnTo>
                <a:lnTo>
                  <a:pt x="21146" y="17289"/>
                </a:lnTo>
                <a:cubicBezTo>
                  <a:pt x="21377" y="16976"/>
                  <a:pt x="21297" y="16523"/>
                  <a:pt x="20968" y="16278"/>
                </a:cubicBezTo>
                <a:lnTo>
                  <a:pt x="16985" y="13361"/>
                </a:lnTo>
                <a:cubicBezTo>
                  <a:pt x="16829" y="13245"/>
                  <a:pt x="16641" y="13204"/>
                  <a:pt x="16463" y="1323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</a:endParaRPr>
          </a:p>
        </p:txBody>
      </p:sp>
      <p:sp>
        <p:nvSpPr>
          <p:cNvPr id="95" name="Home"/>
          <p:cNvSpPr/>
          <p:nvPr/>
        </p:nvSpPr>
        <p:spPr>
          <a:xfrm>
            <a:off x="1028880" y="6222960"/>
            <a:ext cx="888120" cy="795600"/>
          </a:xfrm>
          <a:custGeom>
            <a:avLst/>
            <a:gdLst>
              <a:gd name="textAreaLeft" fmla="*/ 0 w 888120"/>
              <a:gd name="textAreaRight" fmla="*/ 888840 w 888120"/>
              <a:gd name="textAreaTop" fmla="*/ 0 h 795600"/>
              <a:gd name="textAreaBottom" fmla="*/ 796320 h 7956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0" y="11938"/>
                </a:lnTo>
                <a:lnTo>
                  <a:pt x="3392" y="11938"/>
                </a:lnTo>
                <a:lnTo>
                  <a:pt x="3392" y="21600"/>
                </a:lnTo>
                <a:lnTo>
                  <a:pt x="8837" y="21600"/>
                </a:lnTo>
                <a:lnTo>
                  <a:pt x="8837" y="13819"/>
                </a:lnTo>
                <a:lnTo>
                  <a:pt x="12694" y="13819"/>
                </a:lnTo>
                <a:lnTo>
                  <a:pt x="12694" y="21600"/>
                </a:lnTo>
                <a:lnTo>
                  <a:pt x="18160" y="21600"/>
                </a:lnTo>
                <a:lnTo>
                  <a:pt x="18160" y="11938"/>
                </a:lnTo>
                <a:lnTo>
                  <a:pt x="21600" y="11938"/>
                </a:lnTo>
                <a:lnTo>
                  <a:pt x="18160" y="8135"/>
                </a:lnTo>
                <a:lnTo>
                  <a:pt x="18160" y="3553"/>
                </a:lnTo>
                <a:lnTo>
                  <a:pt x="16218" y="3553"/>
                </a:lnTo>
                <a:lnTo>
                  <a:pt x="16218" y="5984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</a:endParaRPr>
          </a:p>
        </p:txBody>
      </p:sp>
      <p:sp>
        <p:nvSpPr>
          <p:cNvPr id="96" name="Volleyball"/>
          <p:cNvSpPr/>
          <p:nvPr/>
        </p:nvSpPr>
        <p:spPr>
          <a:xfrm>
            <a:off x="1028880" y="11937960"/>
            <a:ext cx="888120" cy="888120"/>
          </a:xfrm>
          <a:custGeom>
            <a:avLst/>
            <a:gdLst>
              <a:gd name="textAreaLeft" fmla="*/ 0 w 888120"/>
              <a:gd name="textAreaRight" fmla="*/ 888840 w 888120"/>
              <a:gd name="textAreaTop" fmla="*/ 0 h 888120"/>
              <a:gd name="textAreaBottom" fmla="*/ 888840 h 88812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0670" h="21587">
                <a:moveTo>
                  <a:pt x="10142" y="2"/>
                </a:moveTo>
                <a:cubicBezTo>
                  <a:pt x="7100" y="63"/>
                  <a:pt x="4167" y="1527"/>
                  <a:pt x="2227" y="4095"/>
                </a:cubicBezTo>
                <a:cubicBezTo>
                  <a:pt x="2086" y="4285"/>
                  <a:pt x="2081" y="4546"/>
                  <a:pt x="2206" y="4747"/>
                </a:cubicBezTo>
                <a:cubicBezTo>
                  <a:pt x="2954" y="5915"/>
                  <a:pt x="4001" y="6710"/>
                  <a:pt x="4484" y="7036"/>
                </a:cubicBezTo>
                <a:cubicBezTo>
                  <a:pt x="4614" y="7123"/>
                  <a:pt x="4785" y="7057"/>
                  <a:pt x="4832" y="6910"/>
                </a:cubicBezTo>
                <a:cubicBezTo>
                  <a:pt x="5753" y="3905"/>
                  <a:pt x="7756" y="1585"/>
                  <a:pt x="10383" y="488"/>
                </a:cubicBezTo>
                <a:cubicBezTo>
                  <a:pt x="10523" y="428"/>
                  <a:pt x="10658" y="374"/>
                  <a:pt x="10799" y="325"/>
                </a:cubicBezTo>
                <a:cubicBezTo>
                  <a:pt x="10960" y="265"/>
                  <a:pt x="10923" y="20"/>
                  <a:pt x="10752" y="9"/>
                </a:cubicBezTo>
                <a:cubicBezTo>
                  <a:pt x="10548" y="0"/>
                  <a:pt x="10345" y="-2"/>
                  <a:pt x="10142" y="2"/>
                </a:cubicBezTo>
                <a:close/>
                <a:moveTo>
                  <a:pt x="13159" y="447"/>
                </a:moveTo>
                <a:cubicBezTo>
                  <a:pt x="13031" y="433"/>
                  <a:pt x="12903" y="432"/>
                  <a:pt x="12775" y="449"/>
                </a:cubicBezTo>
                <a:cubicBezTo>
                  <a:pt x="12026" y="536"/>
                  <a:pt x="11293" y="731"/>
                  <a:pt x="10586" y="1024"/>
                </a:cubicBezTo>
                <a:cubicBezTo>
                  <a:pt x="8063" y="2079"/>
                  <a:pt x="6154" y="4340"/>
                  <a:pt x="5307" y="7263"/>
                </a:cubicBezTo>
                <a:cubicBezTo>
                  <a:pt x="5270" y="7399"/>
                  <a:pt x="5332" y="7540"/>
                  <a:pt x="5451" y="7594"/>
                </a:cubicBezTo>
                <a:cubicBezTo>
                  <a:pt x="6793" y="8247"/>
                  <a:pt x="8333" y="8518"/>
                  <a:pt x="9785" y="8355"/>
                </a:cubicBezTo>
                <a:cubicBezTo>
                  <a:pt x="9977" y="8333"/>
                  <a:pt x="10138" y="8199"/>
                  <a:pt x="10206" y="8014"/>
                </a:cubicBezTo>
                <a:cubicBezTo>
                  <a:pt x="10876" y="6145"/>
                  <a:pt x="12234" y="4492"/>
                  <a:pt x="13893" y="3546"/>
                </a:cubicBezTo>
                <a:cubicBezTo>
                  <a:pt x="14762" y="3052"/>
                  <a:pt x="15699" y="2731"/>
                  <a:pt x="16645" y="2595"/>
                </a:cubicBezTo>
                <a:cubicBezTo>
                  <a:pt x="16780" y="2573"/>
                  <a:pt x="16826" y="2395"/>
                  <a:pt x="16717" y="2308"/>
                </a:cubicBezTo>
                <a:cubicBezTo>
                  <a:pt x="16186" y="1873"/>
                  <a:pt x="15610" y="1487"/>
                  <a:pt x="14986" y="1155"/>
                </a:cubicBezTo>
                <a:cubicBezTo>
                  <a:pt x="14512" y="905"/>
                  <a:pt x="14023" y="699"/>
                  <a:pt x="13534" y="530"/>
                </a:cubicBezTo>
                <a:cubicBezTo>
                  <a:pt x="13412" y="489"/>
                  <a:pt x="13286" y="461"/>
                  <a:pt x="13159" y="447"/>
                </a:cubicBezTo>
                <a:close/>
                <a:moveTo>
                  <a:pt x="17175" y="3123"/>
                </a:moveTo>
                <a:cubicBezTo>
                  <a:pt x="16140" y="3210"/>
                  <a:pt x="15110" y="3524"/>
                  <a:pt x="14163" y="4062"/>
                </a:cubicBezTo>
                <a:cubicBezTo>
                  <a:pt x="14148" y="4073"/>
                  <a:pt x="14132" y="4084"/>
                  <a:pt x="14111" y="4089"/>
                </a:cubicBezTo>
                <a:cubicBezTo>
                  <a:pt x="14023" y="4144"/>
                  <a:pt x="14008" y="4270"/>
                  <a:pt x="14080" y="4346"/>
                </a:cubicBezTo>
                <a:cubicBezTo>
                  <a:pt x="17019" y="7351"/>
                  <a:pt x="18424" y="11235"/>
                  <a:pt x="17945" y="15071"/>
                </a:cubicBezTo>
                <a:cubicBezTo>
                  <a:pt x="17784" y="16370"/>
                  <a:pt x="17419" y="17604"/>
                  <a:pt x="16863" y="18767"/>
                </a:cubicBezTo>
                <a:cubicBezTo>
                  <a:pt x="16785" y="18924"/>
                  <a:pt x="16972" y="19078"/>
                  <a:pt x="17102" y="18964"/>
                </a:cubicBezTo>
                <a:cubicBezTo>
                  <a:pt x="18095" y="18067"/>
                  <a:pt x="18938" y="16958"/>
                  <a:pt x="19568" y="15659"/>
                </a:cubicBezTo>
                <a:cubicBezTo>
                  <a:pt x="21570" y="11496"/>
                  <a:pt x="20753" y="6617"/>
                  <a:pt x="17861" y="3405"/>
                </a:cubicBezTo>
                <a:cubicBezTo>
                  <a:pt x="17684" y="3210"/>
                  <a:pt x="17430" y="3107"/>
                  <a:pt x="17175" y="3123"/>
                </a:cubicBezTo>
                <a:close/>
                <a:moveTo>
                  <a:pt x="13445" y="4641"/>
                </a:moveTo>
                <a:cubicBezTo>
                  <a:pt x="13363" y="4637"/>
                  <a:pt x="13280" y="4662"/>
                  <a:pt x="13212" y="4720"/>
                </a:cubicBezTo>
                <a:cubicBezTo>
                  <a:pt x="12193" y="5545"/>
                  <a:pt x="11365" y="6659"/>
                  <a:pt x="10856" y="7898"/>
                </a:cubicBezTo>
                <a:cubicBezTo>
                  <a:pt x="10788" y="8056"/>
                  <a:pt x="10815" y="8241"/>
                  <a:pt x="10924" y="8377"/>
                </a:cubicBezTo>
                <a:cubicBezTo>
                  <a:pt x="12432" y="10247"/>
                  <a:pt x="13206" y="12637"/>
                  <a:pt x="13102" y="15153"/>
                </a:cubicBezTo>
                <a:cubicBezTo>
                  <a:pt x="13008" y="17462"/>
                  <a:pt x="12167" y="19647"/>
                  <a:pt x="10747" y="21321"/>
                </a:cubicBezTo>
                <a:cubicBezTo>
                  <a:pt x="10653" y="21429"/>
                  <a:pt x="10731" y="21598"/>
                  <a:pt x="10872" y="21587"/>
                </a:cubicBezTo>
                <a:cubicBezTo>
                  <a:pt x="12313" y="21506"/>
                  <a:pt x="13721" y="21126"/>
                  <a:pt x="15000" y="20441"/>
                </a:cubicBezTo>
                <a:cubicBezTo>
                  <a:pt x="15375" y="20240"/>
                  <a:pt x="15578" y="19990"/>
                  <a:pt x="15719" y="19784"/>
                </a:cubicBezTo>
                <a:cubicBezTo>
                  <a:pt x="16728" y="18284"/>
                  <a:pt x="17174" y="16789"/>
                  <a:pt x="17393" y="15007"/>
                </a:cubicBezTo>
                <a:cubicBezTo>
                  <a:pt x="17851" y="11339"/>
                  <a:pt x="16493" y="7622"/>
                  <a:pt x="13669" y="4742"/>
                </a:cubicBezTo>
                <a:cubicBezTo>
                  <a:pt x="13607" y="4679"/>
                  <a:pt x="13527" y="4645"/>
                  <a:pt x="13445" y="4641"/>
                </a:cubicBezTo>
                <a:close/>
                <a:moveTo>
                  <a:pt x="1663" y="5054"/>
                </a:moveTo>
                <a:cubicBezTo>
                  <a:pt x="1613" y="5057"/>
                  <a:pt x="1564" y="5085"/>
                  <a:pt x="1536" y="5134"/>
                </a:cubicBezTo>
                <a:cubicBezTo>
                  <a:pt x="1385" y="5389"/>
                  <a:pt x="1238" y="5660"/>
                  <a:pt x="1108" y="5932"/>
                </a:cubicBezTo>
                <a:cubicBezTo>
                  <a:pt x="651" y="6878"/>
                  <a:pt x="339" y="7867"/>
                  <a:pt x="167" y="8861"/>
                </a:cubicBezTo>
                <a:cubicBezTo>
                  <a:pt x="126" y="9106"/>
                  <a:pt x="193" y="9351"/>
                  <a:pt x="349" y="9535"/>
                </a:cubicBezTo>
                <a:cubicBezTo>
                  <a:pt x="1130" y="10459"/>
                  <a:pt x="2035" y="11236"/>
                  <a:pt x="3070" y="11877"/>
                </a:cubicBezTo>
                <a:cubicBezTo>
                  <a:pt x="5816" y="13583"/>
                  <a:pt x="9092" y="14019"/>
                  <a:pt x="12109" y="13095"/>
                </a:cubicBezTo>
                <a:cubicBezTo>
                  <a:pt x="12280" y="13040"/>
                  <a:pt x="12384" y="12860"/>
                  <a:pt x="12348" y="12675"/>
                </a:cubicBezTo>
                <a:cubicBezTo>
                  <a:pt x="12072" y="11360"/>
                  <a:pt x="11532" y="10132"/>
                  <a:pt x="10747" y="9062"/>
                </a:cubicBezTo>
                <a:cubicBezTo>
                  <a:pt x="10643" y="8915"/>
                  <a:pt x="10465" y="8844"/>
                  <a:pt x="10293" y="8871"/>
                </a:cubicBezTo>
                <a:cubicBezTo>
                  <a:pt x="9856" y="8948"/>
                  <a:pt x="9415" y="8980"/>
                  <a:pt x="8962" y="8980"/>
                </a:cubicBezTo>
                <a:cubicBezTo>
                  <a:pt x="7371" y="8980"/>
                  <a:pt x="5742" y="8518"/>
                  <a:pt x="4390" y="7654"/>
                </a:cubicBezTo>
                <a:cubicBezTo>
                  <a:pt x="3350" y="6991"/>
                  <a:pt x="2467" y="6122"/>
                  <a:pt x="1796" y="5122"/>
                </a:cubicBezTo>
                <a:cubicBezTo>
                  <a:pt x="1765" y="5073"/>
                  <a:pt x="1713" y="5051"/>
                  <a:pt x="1663" y="5054"/>
                </a:cubicBezTo>
                <a:close/>
                <a:moveTo>
                  <a:pt x="192" y="10271"/>
                </a:moveTo>
                <a:cubicBezTo>
                  <a:pt x="105" y="10252"/>
                  <a:pt x="10" y="10315"/>
                  <a:pt x="6" y="10425"/>
                </a:cubicBezTo>
                <a:cubicBezTo>
                  <a:pt x="-30" y="11534"/>
                  <a:pt x="99" y="12638"/>
                  <a:pt x="380" y="13698"/>
                </a:cubicBezTo>
                <a:cubicBezTo>
                  <a:pt x="458" y="13986"/>
                  <a:pt x="609" y="14252"/>
                  <a:pt x="817" y="14458"/>
                </a:cubicBezTo>
                <a:cubicBezTo>
                  <a:pt x="2009" y="15638"/>
                  <a:pt x="3548" y="16587"/>
                  <a:pt x="5269" y="17191"/>
                </a:cubicBezTo>
                <a:cubicBezTo>
                  <a:pt x="7568" y="17984"/>
                  <a:pt x="9919" y="18088"/>
                  <a:pt x="11932" y="17474"/>
                </a:cubicBezTo>
                <a:cubicBezTo>
                  <a:pt x="12093" y="17425"/>
                  <a:pt x="12213" y="17295"/>
                  <a:pt x="12255" y="17126"/>
                </a:cubicBezTo>
                <a:cubicBezTo>
                  <a:pt x="12416" y="16479"/>
                  <a:pt x="12515" y="15805"/>
                  <a:pt x="12541" y="15126"/>
                </a:cubicBezTo>
                <a:cubicBezTo>
                  <a:pt x="12557" y="14729"/>
                  <a:pt x="12551" y="14333"/>
                  <a:pt x="12520" y="13947"/>
                </a:cubicBezTo>
                <a:cubicBezTo>
                  <a:pt x="12504" y="13762"/>
                  <a:pt x="12332" y="13637"/>
                  <a:pt x="12161" y="13686"/>
                </a:cubicBezTo>
                <a:cubicBezTo>
                  <a:pt x="11105" y="14001"/>
                  <a:pt x="10018" y="14159"/>
                  <a:pt x="8936" y="14159"/>
                </a:cubicBezTo>
                <a:cubicBezTo>
                  <a:pt x="6804" y="14159"/>
                  <a:pt x="4672" y="13555"/>
                  <a:pt x="2784" y="12382"/>
                </a:cubicBezTo>
                <a:cubicBezTo>
                  <a:pt x="1848" y="11800"/>
                  <a:pt x="1010" y="11110"/>
                  <a:pt x="271" y="10317"/>
                </a:cubicBezTo>
                <a:cubicBezTo>
                  <a:pt x="248" y="10291"/>
                  <a:pt x="221" y="10277"/>
                  <a:pt x="192" y="10271"/>
                </a:cubicBezTo>
                <a:close/>
                <a:moveTo>
                  <a:pt x="1459" y="15825"/>
                </a:moveTo>
                <a:cubicBezTo>
                  <a:pt x="1348" y="15835"/>
                  <a:pt x="1255" y="15966"/>
                  <a:pt x="1321" y="16089"/>
                </a:cubicBezTo>
                <a:cubicBezTo>
                  <a:pt x="2294" y="17898"/>
                  <a:pt x="3772" y="19436"/>
                  <a:pt x="5681" y="20441"/>
                </a:cubicBezTo>
                <a:cubicBezTo>
                  <a:pt x="6835" y="21050"/>
                  <a:pt x="8048" y="21407"/>
                  <a:pt x="9260" y="21538"/>
                </a:cubicBezTo>
                <a:cubicBezTo>
                  <a:pt x="9546" y="21570"/>
                  <a:pt x="9837" y="21463"/>
                  <a:pt x="10040" y="21246"/>
                </a:cubicBezTo>
                <a:cubicBezTo>
                  <a:pt x="10799" y="20436"/>
                  <a:pt x="11408" y="19474"/>
                  <a:pt x="11834" y="18425"/>
                </a:cubicBezTo>
                <a:cubicBezTo>
                  <a:pt x="11897" y="18284"/>
                  <a:pt x="11766" y="18126"/>
                  <a:pt x="11615" y="18164"/>
                </a:cubicBezTo>
                <a:cubicBezTo>
                  <a:pt x="10835" y="18354"/>
                  <a:pt x="10018" y="18452"/>
                  <a:pt x="9175" y="18452"/>
                </a:cubicBezTo>
                <a:cubicBezTo>
                  <a:pt x="7844" y="18452"/>
                  <a:pt x="6455" y="18212"/>
                  <a:pt x="5087" y="17734"/>
                </a:cubicBezTo>
                <a:cubicBezTo>
                  <a:pt x="3797" y="17283"/>
                  <a:pt x="2601" y="16642"/>
                  <a:pt x="1572" y="15859"/>
                </a:cubicBezTo>
                <a:cubicBezTo>
                  <a:pt x="1535" y="15831"/>
                  <a:pt x="1497" y="15822"/>
                  <a:pt x="1459" y="15825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</a:endParaRPr>
          </a:p>
        </p:txBody>
      </p:sp>
      <p:sp>
        <p:nvSpPr>
          <p:cNvPr id="97" name="ул. М. Новикова…"/>
          <p:cNvSpPr/>
          <p:nvPr/>
        </p:nvSpPr>
        <p:spPr>
          <a:xfrm>
            <a:off x="2857680" y="5934240"/>
            <a:ext cx="5168160" cy="1364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82548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4100" b="1" u="none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ул. М. Новикова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82548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ru-RU" sz="4100" b="1" u="none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д. 5, 236005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8" name="info@it-cube39.ru"/>
          <p:cNvSpPr/>
          <p:nvPr/>
        </p:nvSpPr>
        <p:spPr>
          <a:xfrm>
            <a:off x="3022560" y="8171640"/>
            <a:ext cx="5168160" cy="725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82548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4100" b="1" u="sng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  <a:hlinkClick r:id="rId2"/>
              </a:rPr>
              <a:t>info@it-cube39.ru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9" name="+7 (929) 166-03-67"/>
          <p:cNvSpPr/>
          <p:nvPr/>
        </p:nvSpPr>
        <p:spPr>
          <a:xfrm>
            <a:off x="3022560" y="9776880"/>
            <a:ext cx="5168160" cy="1350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82548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4100" b="1" u="none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</a:rPr>
              <a:t>+7 (929) 166-03-67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0" name="it-cube39.ru"/>
          <p:cNvSpPr/>
          <p:nvPr/>
        </p:nvSpPr>
        <p:spPr>
          <a:xfrm>
            <a:off x="3022560" y="12019680"/>
            <a:ext cx="5168160" cy="725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 defTabSz="82548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lang="en-US" sz="4100" b="1" u="sng" strike="noStrike">
                <a:solidFill>
                  <a:schemeClr val="accent1">
                    <a:lumOff val="-13570"/>
                  </a:schemeClr>
                </a:solidFill>
                <a:effectLst/>
                <a:uFillTx/>
                <a:latin typeface="Helvetica Neue"/>
                <a:ea typeface="Helvetica Neue"/>
                <a:hlinkClick r:id="rId3"/>
              </a:rPr>
              <a:t>it-cube39.ru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1877</TotalTime>
  <Application>LibreOffice/25.8.6.2$Linux_X86_64 LibreOffice_project/580$Build-2</Application>
  <AppVersion>15.0000</AppVersion>
  <Words>559</Words>
  <Paragraphs>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description/>
  <dc:language>en-US</dc:language>
  <cp:lastModifiedBy/>
  <dcterms:modified xsi:type="dcterms:W3CDTF">2026-05-19T00:39:15Z</dcterms:modified>
  <cp:revision>90</cp:revision>
  <dc:subject/>
  <dc:title>Направления развития системы дополнительного образования в сфере информационных технологий в Калининградской области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Произвольный</vt:lpwstr>
  </property>
  <property fmtid="{D5CDD505-2E9C-101B-9397-08002B2CF9AE}" pid="3" name="Slides">
    <vt:i4>12</vt:i4>
  </property>
</Properties>
</file>